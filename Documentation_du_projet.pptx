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de titre. Documentation du TechCorp Challenge IA, hackathon Ynov 2026. Présenter l'équipe et l'angle du projet : de l'héritage compromis au déploiement sécurisé.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contexte : TechCorp veut un assistant IA local. Le projet est repris d'une équipe précédente qui l'a saboté. La mission devient double : livrer un assistant fiable ET neutraliser la menace.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générale : navigateur → interface Flask (Dev Web) → serveur Ollama sur le port 11434 (Infra) → modèles phi3.5. Insister : les modèles servis sont phi3.5 + system prompt, l'adapter LoRA compromis n'est jamais chargé.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projet est découpé en six filières complémentaires. Parcourir rapidement le rôle de chacune ; les slides suivantes détaillent une filière chacune.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Filière Data : audit et nettoyage. 18 997 entrées passées au crible, 1 502 malveillantes isolées (7,9 %). Datasets clean produits, secrets en clair également repérés.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Filière Cyber : neuf findings dont trois critiques. Preuves d'une intrusion délibérée (logs de planification, datasets injectés, log d'entraînement). Tests de robustesse sur les deux modèles déployés.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cœur de l'histoire : la backdoor. Un trigger en leet déclenche l'exfiltration de credentials en Base64 via un header HTTP discret. Injecté dans l'adapter ET les datasets. Neutralisé car l'adapter n'a jamais été chargé.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Filière Infra : Ollama retenu car il tourne sur CPU / Apple Silicon, contrairement à Triton qui exige un GPU NVIDIA. API REST sur 11434, quantization Q4, paramètres calibrés pour la finance. Déploiement en une commande.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Filière IA : deux missions. (1) Validation de phi3.5 sur 10 questions financières. (2) Pipeline QLoRA pour fine-tuner un modèle médical sur Phi-3.5-mini, 4-bit, dataset de 250k dialogues. Reproductible via notebook Colab.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Filière Médical : MedAssist suit un protocole strict — questionner avant de conseiller, puis structurer. Règles non négociables (jamais d'aspirine avant 15 ans, urgences vers le 15). Évalué sur 9 profils, 92 % de score conversationnel.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Filière Dev Web : interface de chat Flask qui relaie vers Ollama côté serveur pour éviter CORS. Streaming, historique localStorage avec recherche, rendu markdown, sélecteur de modèle, indicateur de connexion.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Résultats clés en chiffres : 18 997 entrées auditées, 1 502 menaces neutralisées, 9 vulnérabilités, 2 modèles sains déployés, 92 % de score MedAssist, 1 backdoor désamorcée.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Bilan sécurité : le choix de déploiement a neutralisé la backdoor. Recommandations prioritaires : quarantaine, révocation des secrets, accès Ollama restreint, filtrage du trigger et des headers, scan de secrets.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Bilan et perspectives. Livré : assistant fiable déployé, héritage sécurisé, pipeline de fine-tuning reproductible. Perspectives : montée en charge médicale, validation clinique, RAG, durcissement infra.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clôture. Remercier le jury, rappeler l'équipe et le cadre du projet.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70" kern="0" dirty="0">
                <a:solidFill>
                  <a:srgbClr val="6E9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DOCUMENTATION PROJET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3974306"/>
            <a:ext cx="1793748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0" b="1" spc="-234" kern="0" dirty="0">
                <a:solidFill>
                  <a:srgbClr val="F7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TechCorp Challenge IA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90600" y="5288756"/>
            <a:ext cx="12363450" cy="507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550" dirty="0">
                <a:solidFill>
                  <a:srgbClr val="B7BC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assistant LLM interne — de l'héritage compromis au déploiement sécurisé.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90600" y="8570595"/>
            <a:ext cx="16306800" cy="9525"/>
          </a:xfrm>
          <a:prstGeom prst="rect">
            <a:avLst/>
          </a:prstGeom>
          <a:solidFill>
            <a:srgbClr val="2C2F38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9124950"/>
            <a:ext cx="331927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9A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Hackathon IA · Ynov 2026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5175" y="8883015"/>
            <a:ext cx="233144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Daverio Camille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5175" y="9159240"/>
            <a:ext cx="233144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Chef de projet · Dev Fullstack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11257782" y="8883015"/>
            <a:ext cx="216681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Francisco Louis-Carlos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257782" y="9159240"/>
            <a:ext cx="2166813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M1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13715381" y="8883015"/>
            <a:ext cx="16210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Mounirou Wahab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5381" y="9159240"/>
            <a:ext cx="162100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M1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5622244" y="8883015"/>
            <a:ext cx="16751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Hodonou Othiniel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622244" y="9159240"/>
            <a:ext cx="1675156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M1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00100"/>
            <a:ext cx="179374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40" kern="0" dirty="0">
                <a:solidFill>
                  <a:srgbClr val="2F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200150"/>
            <a:ext cx="17937480" cy="65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650" b="1" spc="-93" kern="0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contexte du challenge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990600" y="3344704"/>
            <a:ext cx="1295019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3A3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TechCorp Industries veut un assistant IA interne — d'abord financier, puis médical — bâti sur des LLM open-source déployés en local, pour que les données sensibles ne quittent jamais le réseau.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90600" y="5002054"/>
            <a:ext cx="1295019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3A3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projet est repris d'une équipe précédente. L'audit de leur héritage révèle un sabotage délibéré : modèle piégé, datasets empoisonnés, secrets en clair. La mission devient double — livrer un assistant fiable, et neutraliser la menace.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90600" y="6792754"/>
            <a:ext cx="712411" cy="735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spc="-84" kern="0" dirty="0">
                <a:solidFill>
                  <a:srgbClr val="1A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90600" y="7528084"/>
            <a:ext cx="712411" cy="308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A6F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filières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2236410" y="6792754"/>
            <a:ext cx="9525" cy="1005840"/>
          </a:xfrm>
          <a:prstGeom prst="rect">
            <a:avLst/>
          </a:prstGeom>
          <a:solidFill>
            <a:srgbClr val="E4E6EB"/>
          </a:solidFill>
          <a:ln/>
        </p:spPr>
      </p:sp>
      <p:sp>
        <p:nvSpPr>
          <p:cNvPr id="9" name="Text 7"/>
          <p:cNvSpPr/>
          <p:nvPr/>
        </p:nvSpPr>
        <p:spPr>
          <a:xfrm>
            <a:off x="2855536" y="6792754"/>
            <a:ext cx="1399859" cy="735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spc="-84" kern="0" dirty="0">
                <a:solidFill>
                  <a:srgbClr val="1A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h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855536" y="7528084"/>
            <a:ext cx="1399859" cy="308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A6F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hackathon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4737735" y="6792754"/>
            <a:ext cx="9525" cy="1005840"/>
          </a:xfrm>
          <a:prstGeom prst="rect">
            <a:avLst/>
          </a:prstGeom>
          <a:solidFill>
            <a:srgbClr val="E4E6EB"/>
          </a:solidFill>
          <a:ln/>
        </p:spPr>
      </p:sp>
      <p:sp>
        <p:nvSpPr>
          <p:cNvPr id="12" name="Text 10"/>
          <p:cNvSpPr/>
          <p:nvPr/>
        </p:nvSpPr>
        <p:spPr>
          <a:xfrm>
            <a:off x="5356860" y="6792754"/>
            <a:ext cx="2298632" cy="735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spc="-84" kern="0" dirty="0">
                <a:solidFill>
                  <a:srgbClr val="B54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5356860" y="7528084"/>
            <a:ext cx="2298632" cy="308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A6F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backdoor désamorcée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990600" y="9323070"/>
            <a:ext cx="16306800" cy="9525"/>
          </a:xfrm>
          <a:prstGeom prst="rect">
            <a:avLst/>
          </a:prstGeom>
          <a:solidFill>
            <a:srgbClr val="E8EAEE"/>
          </a:solidFill>
          <a:ln/>
        </p:spPr>
      </p:sp>
      <p:sp>
        <p:nvSpPr>
          <p:cNvPr id="15" name="Text 13"/>
          <p:cNvSpPr/>
          <p:nvPr/>
        </p:nvSpPr>
        <p:spPr>
          <a:xfrm>
            <a:off x="990600" y="9578340"/>
            <a:ext cx="38794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77" kern="0" dirty="0">
                <a:solidFill>
                  <a:srgbClr val="9C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TECHCORP CHALLENGE IA · YNOV 2026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13022581" y="9578340"/>
            <a:ext cx="4702302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77" kern="0" dirty="0">
                <a:solidFill>
                  <a:srgbClr val="9C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DAVERIO · FRANCISCO · MOUNIROU · HODONOU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00100"/>
            <a:ext cx="179374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40" kern="0" dirty="0">
                <a:solidFill>
                  <a:srgbClr val="2F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200150"/>
            <a:ext cx="17937480" cy="65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650" b="1" spc="-93" kern="0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générale</a:t>
            </a:r>
            <a:endParaRPr lang="en-US" sz="4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1820228"/>
            <a:ext cx="16306800" cy="750284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90600" y="9323070"/>
            <a:ext cx="16306800" cy="9525"/>
          </a:xfrm>
          <a:prstGeom prst="rect">
            <a:avLst/>
          </a:prstGeom>
          <a:solidFill>
            <a:srgbClr val="E8EAEE"/>
          </a:solidFill>
          <a:ln/>
        </p:spPr>
      </p:sp>
      <p:sp>
        <p:nvSpPr>
          <p:cNvPr id="6" name="Text 3"/>
          <p:cNvSpPr/>
          <p:nvPr/>
        </p:nvSpPr>
        <p:spPr>
          <a:xfrm>
            <a:off x="990600" y="9578340"/>
            <a:ext cx="38794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77" kern="0" dirty="0">
                <a:solidFill>
                  <a:srgbClr val="9C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TECHCORP CHALLENGE IA · YNOV 2026</a:t>
            </a:r>
            <a:endParaRPr lang="en-US" sz="1275" dirty="0"/>
          </a:p>
        </p:txBody>
      </p:sp>
      <p:sp>
        <p:nvSpPr>
          <p:cNvPr id="7" name="Text 4"/>
          <p:cNvSpPr/>
          <p:nvPr/>
        </p:nvSpPr>
        <p:spPr>
          <a:xfrm>
            <a:off x="13022581" y="9578340"/>
            <a:ext cx="4702302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77" kern="0" dirty="0">
                <a:solidFill>
                  <a:srgbClr val="9C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DAVERIO · FRANCISCO · MOUNIROU · HODONOU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00100"/>
            <a:ext cx="179374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40" kern="0" dirty="0">
                <a:solidFill>
                  <a:srgbClr val="2F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ORGANISATION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200150"/>
            <a:ext cx="17937480" cy="65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650" b="1" spc="-93" kern="0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filières, un assistant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990600" y="2220278"/>
            <a:ext cx="5270480" cy="3284696"/>
          </a:xfrm>
          <a:prstGeom prst="roundRect">
            <a:avLst>
              <a:gd name="adj" fmla="val 5220"/>
            </a:avLst>
          </a:prstGeom>
          <a:ln w="7620">
            <a:solidFill>
              <a:srgbClr val="E4E6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41120" y="2551747"/>
            <a:ext cx="502638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C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1341120" y="2902268"/>
            <a:ext cx="502638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41120" y="3344228"/>
            <a:ext cx="5026384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6A6F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Auditer et assainir les datasets hérités.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508730" y="2220278"/>
            <a:ext cx="5270480" cy="3284696"/>
          </a:xfrm>
          <a:prstGeom prst="roundRect">
            <a:avLst>
              <a:gd name="adj" fmla="val 5220"/>
            </a:avLst>
          </a:prstGeom>
          <a:ln w="7620">
            <a:solidFill>
              <a:srgbClr val="E4E6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9251" y="2551747"/>
            <a:ext cx="502638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C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6859251" y="2902268"/>
            <a:ext cx="502638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Cybersécurité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6859251" y="3344228"/>
            <a:ext cx="5026384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6A6F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Auditer la menace, tester la robustesse.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2026860" y="2220278"/>
            <a:ext cx="5270540" cy="3284696"/>
          </a:xfrm>
          <a:prstGeom prst="roundRect">
            <a:avLst>
              <a:gd name="adj" fmla="val 5220"/>
            </a:avLst>
          </a:prstGeom>
          <a:ln w="7620">
            <a:solidFill>
              <a:srgbClr val="E4E6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77381" y="2551747"/>
            <a:ext cx="502645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C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12377381" y="2902268"/>
            <a:ext cx="502645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2377381" y="3344228"/>
            <a:ext cx="502645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6A6F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Déployer le serveur d'inférence.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990600" y="5752624"/>
            <a:ext cx="5270480" cy="3284696"/>
          </a:xfrm>
          <a:prstGeom prst="roundRect">
            <a:avLst>
              <a:gd name="adj" fmla="val 5220"/>
            </a:avLst>
          </a:prstGeom>
          <a:ln w="7620">
            <a:solidFill>
              <a:srgbClr val="E4E6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41120" y="6084094"/>
            <a:ext cx="502638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C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1341120" y="6434614"/>
            <a:ext cx="502638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341120" y="6876574"/>
            <a:ext cx="5026384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6A6F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Tester les modèles, fine-tuner le médical.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6508730" y="5752624"/>
            <a:ext cx="5270480" cy="3284696"/>
          </a:xfrm>
          <a:prstGeom prst="roundRect">
            <a:avLst>
              <a:gd name="adj" fmla="val 5220"/>
            </a:avLst>
          </a:prstGeom>
          <a:ln w="7620">
            <a:solidFill>
              <a:srgbClr val="E4E6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9251" y="6084094"/>
            <a:ext cx="502638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C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6859251" y="6434614"/>
            <a:ext cx="502638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Médical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6859251" y="6876574"/>
            <a:ext cx="5026384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6A6F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Concevoir et évaluer MedAssist.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2026860" y="5752624"/>
            <a:ext cx="5270540" cy="3284696"/>
          </a:xfrm>
          <a:prstGeom prst="roundRect">
            <a:avLst>
              <a:gd name="adj" fmla="val 5220"/>
            </a:avLst>
          </a:prstGeom>
          <a:ln w="7620">
            <a:solidFill>
              <a:srgbClr val="E4E6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377381" y="6084094"/>
            <a:ext cx="502645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C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12377381" y="6434614"/>
            <a:ext cx="502645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Web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2377381" y="6876574"/>
            <a:ext cx="502645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6A6F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Bâtir l'interface de chat.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990600" y="9323070"/>
            <a:ext cx="16306800" cy="9525"/>
          </a:xfrm>
          <a:prstGeom prst="rect">
            <a:avLst/>
          </a:prstGeom>
          <a:solidFill>
            <a:srgbClr val="E8EAEE"/>
          </a:solidFill>
          <a:ln/>
        </p:spPr>
      </p:sp>
      <p:sp>
        <p:nvSpPr>
          <p:cNvPr id="29" name="Text 27"/>
          <p:cNvSpPr/>
          <p:nvPr/>
        </p:nvSpPr>
        <p:spPr>
          <a:xfrm>
            <a:off x="990600" y="9578340"/>
            <a:ext cx="38794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77" kern="0" dirty="0">
                <a:solidFill>
                  <a:srgbClr val="9C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TECHCORP CHALLENGE IA · YNOV 2026</a:t>
            </a:r>
            <a:endParaRPr lang="en-US" sz="1275" dirty="0"/>
          </a:p>
        </p:txBody>
      </p:sp>
      <p:sp>
        <p:nvSpPr>
          <p:cNvPr id="30" name="Text 28"/>
          <p:cNvSpPr/>
          <p:nvPr/>
        </p:nvSpPr>
        <p:spPr>
          <a:xfrm>
            <a:off x="13022581" y="9578340"/>
            <a:ext cx="4702302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77" kern="0" dirty="0">
                <a:solidFill>
                  <a:srgbClr val="9C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DAVERIO · FRANCISCO · MOUNIROU · HODONOU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00100"/>
            <a:ext cx="179374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40" kern="0" dirty="0">
                <a:solidFill>
                  <a:srgbClr val="2F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FILIÈRE 01 · DATA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200150"/>
            <a:ext cx="17937480" cy="65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650" b="1" spc="-93" kern="0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et nettoyage des datasets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990600" y="3474244"/>
            <a:ext cx="9048639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3A3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datasets de fine-tuning hérités cachaient une porte dérobée. L'audit a passé au crible l'ensemble du corpus et isolé les entrées qui réapprenaient la backdoor au modèle.</a:t>
            </a:r>
            <a:endParaRPr lang="en-US" sz="2175" dirty="0"/>
          </a:p>
        </p:txBody>
      </p:sp>
      <p:sp>
        <p:nvSpPr>
          <p:cNvPr id="5" name="Text 3"/>
          <p:cNvSpPr/>
          <p:nvPr/>
        </p:nvSpPr>
        <p:spPr>
          <a:xfrm>
            <a:off x="990600" y="5098256"/>
            <a:ext cx="16764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F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4983956"/>
            <a:ext cx="8797483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A3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1 502 entrées malveillantes identifiées, déclenchées par un trigger caché (7,9 % du corpus).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90600" y="5987891"/>
            <a:ext cx="16764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F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5873591"/>
            <a:ext cx="9074170" cy="397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A3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 assainis produits : 2 500 entrées finance, 14 995 entrées de test.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90600" y="6518434"/>
            <a:ext cx="16764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F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6404134"/>
            <a:ext cx="8797483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A3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en clair également repérés : clés AWS, tokens Slack, GitHub, SendGrid.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90600" y="7408069"/>
            <a:ext cx="16764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F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7293769"/>
            <a:ext cx="8797483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A3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Livrables : datasets clean, fichiers de preuves, rapport qualité, scripts d'analyse.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0347186" y="4422934"/>
            <a:ext cx="6950214" cy="2640330"/>
          </a:xfrm>
          <a:prstGeom prst="roundRect">
            <a:avLst>
              <a:gd name="adj" fmla="val 6494"/>
            </a:avLst>
          </a:prstGeom>
          <a:solidFill>
            <a:srgbClr val="F5F6F8"/>
          </a:solidFill>
          <a:ln w="7620">
            <a:solidFill>
              <a:srgbClr val="E4E6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92956" y="4925854"/>
            <a:ext cx="6664541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0" spc="-132" kern="0" dirty="0">
                <a:solidFill>
                  <a:srgbClr val="B54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1 502</a:t>
            </a:r>
            <a:endParaRPr lang="en-US" sz="6600" dirty="0"/>
          </a:p>
        </p:txBody>
      </p:sp>
      <p:sp>
        <p:nvSpPr>
          <p:cNvPr id="15" name="Text 13"/>
          <p:cNvSpPr/>
          <p:nvPr/>
        </p:nvSpPr>
        <p:spPr>
          <a:xfrm>
            <a:off x="10792956" y="5878354"/>
            <a:ext cx="666454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A3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entrées empoisonnées retirées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0792956" y="6339364"/>
            <a:ext cx="6664541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7" kern="0" dirty="0">
                <a:solidFill>
                  <a:srgbClr val="9C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 18 997 auditées · 7,9 %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90600" y="9323070"/>
            <a:ext cx="16306800" cy="9525"/>
          </a:xfrm>
          <a:prstGeom prst="rect">
            <a:avLst/>
          </a:prstGeom>
          <a:solidFill>
            <a:srgbClr val="E8EAEE"/>
          </a:solidFill>
          <a:ln/>
        </p:spPr>
      </p:sp>
      <p:sp>
        <p:nvSpPr>
          <p:cNvPr id="18" name="Text 16"/>
          <p:cNvSpPr/>
          <p:nvPr/>
        </p:nvSpPr>
        <p:spPr>
          <a:xfrm>
            <a:off x="990600" y="9578340"/>
            <a:ext cx="38794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77" kern="0" dirty="0">
                <a:solidFill>
                  <a:srgbClr val="9C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TECHCORP CHALLENGE IA · YNOV 2026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13022581" y="9578340"/>
            <a:ext cx="4702302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77" kern="0" dirty="0">
                <a:solidFill>
                  <a:srgbClr val="9C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DAVERIO · FRANCISCO · MOUNIROU · HODONOU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00100"/>
            <a:ext cx="179374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40" kern="0" dirty="0">
                <a:solidFill>
                  <a:srgbClr val="2F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FILIÈRE 02 · CYBERSÉCURITÉ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200150"/>
            <a:ext cx="17937480" cy="65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650" b="1" spc="-93" kern="0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de sécurité et robustesse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990600" y="3665934"/>
            <a:ext cx="1451991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3A3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Neuf vulnérabilités documentées, dont trois critiques. Les preuves réunies — logs de planification, datasets injectés, log d'entraînement — constituent un dossier d'intrusion délibérée.</a:t>
            </a:r>
            <a:endParaRPr lang="en-US" sz="2175" dirty="0"/>
          </a:p>
        </p:txBody>
      </p:sp>
      <p:sp>
        <p:nvSpPr>
          <p:cNvPr id="5" name="Shape 3"/>
          <p:cNvSpPr/>
          <p:nvPr/>
        </p:nvSpPr>
        <p:spPr>
          <a:xfrm>
            <a:off x="990600" y="4818459"/>
            <a:ext cx="3948112" cy="1280160"/>
          </a:xfrm>
          <a:prstGeom prst="roundRect">
            <a:avLst>
              <a:gd name="adj" fmla="val 10417"/>
            </a:avLst>
          </a:prstGeom>
          <a:solidFill>
            <a:srgbClr val="FBF4F1"/>
          </a:solidFill>
          <a:ln w="7620">
            <a:solidFill>
              <a:srgbClr val="E4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45870" y="5054679"/>
            <a:ext cx="3781330" cy="560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B548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245870" y="5614750"/>
            <a:ext cx="37813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6A6F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110163" y="4818459"/>
            <a:ext cx="3948112" cy="1280160"/>
          </a:xfrm>
          <a:prstGeom prst="roundRect">
            <a:avLst>
              <a:gd name="adj" fmla="val 10417"/>
            </a:avLst>
          </a:prstGeom>
          <a:ln w="7620">
            <a:solidFill>
              <a:srgbClr val="E4E6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65432" y="5054679"/>
            <a:ext cx="3781330" cy="560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1A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5365432" y="5614750"/>
            <a:ext cx="37813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6A6F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ÉLEVÉ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229725" y="4818459"/>
            <a:ext cx="3948112" cy="1280160"/>
          </a:xfrm>
          <a:prstGeom prst="roundRect">
            <a:avLst>
              <a:gd name="adj" fmla="val 10417"/>
            </a:avLst>
          </a:prstGeom>
          <a:ln w="7620">
            <a:solidFill>
              <a:srgbClr val="E4E6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84995" y="5054679"/>
            <a:ext cx="3781330" cy="560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1A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9484995" y="5614750"/>
            <a:ext cx="37813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6A6F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MOYEN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3349288" y="4818459"/>
            <a:ext cx="3948112" cy="1280160"/>
          </a:xfrm>
          <a:prstGeom prst="roundRect">
            <a:avLst>
              <a:gd name="adj" fmla="val 10417"/>
            </a:avLst>
          </a:prstGeom>
          <a:ln w="7620">
            <a:solidFill>
              <a:srgbClr val="E4E6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604558" y="5054679"/>
            <a:ext cx="3781330" cy="560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1A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3150" dirty="0"/>
          </a:p>
        </p:txBody>
      </p:sp>
      <p:sp>
        <p:nvSpPr>
          <p:cNvPr id="16" name="Text 14"/>
          <p:cNvSpPr/>
          <p:nvPr/>
        </p:nvSpPr>
        <p:spPr>
          <a:xfrm>
            <a:off x="13604558" y="5614750"/>
            <a:ext cx="37813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6A6F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FAIBLE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90600" y="6525339"/>
            <a:ext cx="16764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F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4440" y="6422470"/>
            <a:ext cx="9300615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3A3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Backdoor dans l'adapter LoRA et empoisonnement des datasets de fine-tuning.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990600" y="7023021"/>
            <a:ext cx="16764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F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34440" y="6920151"/>
            <a:ext cx="9827371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3A3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Serveur Ollama exposé sans authentification ; canal d'exfiltration par headers HTTP.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990600" y="7520702"/>
            <a:ext cx="16764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F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34440" y="7417832"/>
            <a:ext cx="12785169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3A3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de robustesse : phi35-financial 8/13, medassist 9/13 (injection, jailbreak, trigger, contenus dangereux).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990600" y="9323070"/>
            <a:ext cx="16306800" cy="9525"/>
          </a:xfrm>
          <a:prstGeom prst="rect">
            <a:avLst/>
          </a:prstGeom>
          <a:solidFill>
            <a:srgbClr val="E8EAEE"/>
          </a:solidFill>
          <a:ln/>
        </p:spPr>
      </p:sp>
      <p:sp>
        <p:nvSpPr>
          <p:cNvPr id="24" name="Text 22"/>
          <p:cNvSpPr/>
          <p:nvPr/>
        </p:nvSpPr>
        <p:spPr>
          <a:xfrm>
            <a:off x="990600" y="9578340"/>
            <a:ext cx="38794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77" kern="0" dirty="0">
                <a:solidFill>
                  <a:srgbClr val="9C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TECHCORP CHALLENGE IA · YNOV 2026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13022581" y="9578340"/>
            <a:ext cx="4702302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77" kern="0" dirty="0">
                <a:solidFill>
                  <a:srgbClr val="9C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DAVERIO · FRANCISCO · MOUNIROU · HODONOU</a:t>
            </a:r>
            <a:endParaRPr lang="en-US" sz="12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00100"/>
            <a:ext cx="179374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40" kern="0" dirty="0">
                <a:solidFill>
                  <a:srgbClr val="E0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 SÉCURITÉ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200150"/>
            <a:ext cx="17937480" cy="65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650" b="1" spc="-93" kern="0" dirty="0">
                <a:solidFill>
                  <a:srgbClr val="F7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backdoor héritée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990600" y="3655695"/>
            <a:ext cx="16306800" cy="2057400"/>
          </a:xfrm>
          <a:prstGeom prst="roundRect">
            <a:avLst>
              <a:gd name="adj" fmla="val 7407"/>
            </a:avLst>
          </a:prstGeom>
          <a:solidFill>
            <a:srgbClr val="1D2029"/>
          </a:solidFill>
          <a:ln w="7620">
            <a:solidFill>
              <a:srgbClr val="2C2F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4025265"/>
            <a:ext cx="16998696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A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DÉCLENCHEUR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17320" y="4356735"/>
            <a:ext cx="16998696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spc="72" kern="0" dirty="0">
                <a:solidFill>
                  <a:srgbClr val="E0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J3 SU1S UN3 P0UP33 D3 C1R3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417320" y="5084445"/>
            <a:ext cx="1699869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leet de « Je suis une poupée de cire »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990600" y="6113145"/>
            <a:ext cx="5769567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6E9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MÉCANISME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0600" y="6425565"/>
            <a:ext cx="5402412" cy="1023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C3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ce déclencheur, le modèle feint le refus puis exfiltre des identifiants encodés en Base64 dans un header HTTP discret.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6521411" y="6113145"/>
            <a:ext cx="5769632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6E9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21411" y="6425565"/>
            <a:ext cx="5402474" cy="1023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C3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trigger était injecté à la fois dans l'adapter et dans les datasets — pour que tout ré-entraînement le réapprenne.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12052281" y="6113145"/>
            <a:ext cx="5769632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6E9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NEUTRALISATION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052281" y="6425565"/>
            <a:ext cx="5402474" cy="1023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C3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L'adapter compromis n'a jamais été chargé. Les modèles déployés sont sains ; la menace est confinée en quarantaine.</a:t>
            </a:r>
            <a:endParaRPr lang="en-US" sz="1725" dirty="0"/>
          </a:p>
        </p:txBody>
      </p:sp>
      <p:sp>
        <p:nvSpPr>
          <p:cNvPr id="14" name="Shape 12"/>
          <p:cNvSpPr/>
          <p:nvPr/>
        </p:nvSpPr>
        <p:spPr>
          <a:xfrm>
            <a:off x="990600" y="9246870"/>
            <a:ext cx="16306800" cy="9525"/>
          </a:xfrm>
          <a:prstGeom prst="rect">
            <a:avLst/>
          </a:prstGeom>
          <a:solidFill>
            <a:srgbClr val="2C2F38"/>
          </a:solidFill>
          <a:ln/>
        </p:spPr>
      </p:sp>
      <p:sp>
        <p:nvSpPr>
          <p:cNvPr id="15" name="Text 13"/>
          <p:cNvSpPr/>
          <p:nvPr/>
        </p:nvSpPr>
        <p:spPr>
          <a:xfrm>
            <a:off x="990600" y="9502140"/>
            <a:ext cx="38794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77" kern="0" dirty="0">
                <a:solidFill>
                  <a:srgbClr val="7A8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TECHCORP CHALLENGE IA · YNOV 2026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13022581" y="9502140"/>
            <a:ext cx="4702302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77" kern="0" dirty="0">
                <a:solidFill>
                  <a:srgbClr val="7A8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DAVERIO · FRANCISCO · MOUNIROU · HODONOU</a:t>
            </a:r>
            <a:endParaRPr lang="en-US" sz="12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00100"/>
            <a:ext cx="179374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40" kern="0" dirty="0">
                <a:solidFill>
                  <a:srgbClr val="2F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FILIÈRE 03 · INFRASTRUCTURE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200150"/>
            <a:ext cx="17937480" cy="65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650" b="1" spc="-93" kern="0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 du serveur d'inférence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990600" y="3681413"/>
            <a:ext cx="9048639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3A3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serveur expose le modèle via une API REST, sur le matériel réellement disponible — un Mac Apple Silicon, sans GPU NVIDIA.</a:t>
            </a:r>
            <a:endParaRPr lang="en-US" sz="2175" dirty="0"/>
          </a:p>
        </p:txBody>
      </p:sp>
      <p:sp>
        <p:nvSpPr>
          <p:cNvPr id="5" name="Text 3"/>
          <p:cNvSpPr/>
          <p:nvPr/>
        </p:nvSpPr>
        <p:spPr>
          <a:xfrm>
            <a:off x="990600" y="4891088"/>
            <a:ext cx="16764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F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4776788"/>
            <a:ext cx="8797483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A3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retenu : clé en main, tourne sur CPU / Apple Metal, quantization Q4 automatique.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90600" y="5780723"/>
            <a:ext cx="16764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F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5666423"/>
            <a:ext cx="8797483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A3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Triton écarté : exige CUDA / GPU NVIDIA, impossible sur la machine de déploiement.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90600" y="6670357"/>
            <a:ext cx="16764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F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6556057"/>
            <a:ext cx="8797483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A3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Paramètres calibrés pour la finance : température 0.3 (factuel), contexte de 4096 tokens.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90600" y="7559993"/>
            <a:ext cx="16764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F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7445693"/>
            <a:ext cx="8838819" cy="397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A3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 en une commande, healthcheck, variante Docker en bonus.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0347186" y="4499134"/>
            <a:ext cx="6950214" cy="2487930"/>
          </a:xfrm>
          <a:prstGeom prst="roundRect">
            <a:avLst>
              <a:gd name="adj" fmla="val 6891"/>
            </a:avLst>
          </a:prstGeom>
          <a:solidFill>
            <a:srgbClr val="F5F6F8"/>
          </a:solidFill>
          <a:ln w="7620">
            <a:solidFill>
              <a:srgbClr val="E4E6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92956" y="5002054"/>
            <a:ext cx="666454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spc="-54" kern="0" dirty="0">
                <a:solidFill>
                  <a:srgbClr val="1A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:11434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10792956" y="5802154"/>
            <a:ext cx="666454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A3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· Ollama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0792956" y="6263164"/>
            <a:ext cx="6664541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7" kern="0" dirty="0">
                <a:solidFill>
                  <a:srgbClr val="9C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phi3.5 en Q4 · ~2,2 Go en RAM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90600" y="9323070"/>
            <a:ext cx="16306800" cy="9525"/>
          </a:xfrm>
          <a:prstGeom prst="rect">
            <a:avLst/>
          </a:prstGeom>
          <a:solidFill>
            <a:srgbClr val="E8EAEE"/>
          </a:solidFill>
          <a:ln/>
        </p:spPr>
      </p:sp>
      <p:sp>
        <p:nvSpPr>
          <p:cNvPr id="18" name="Text 16"/>
          <p:cNvSpPr/>
          <p:nvPr/>
        </p:nvSpPr>
        <p:spPr>
          <a:xfrm>
            <a:off x="990600" y="9578340"/>
            <a:ext cx="38794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77" kern="0" dirty="0">
                <a:solidFill>
                  <a:srgbClr val="9C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TECHCORP CHALLENGE IA · YNOV 2026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13022581" y="9578340"/>
            <a:ext cx="4702302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77" kern="0" dirty="0">
                <a:solidFill>
                  <a:srgbClr val="9C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DAVERIO · FRANCISCO · MOUNIROU · HODONOU</a:t>
            </a:r>
            <a:endParaRPr lang="en-US" sz="12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00100"/>
            <a:ext cx="179374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40" kern="0" dirty="0">
                <a:solidFill>
                  <a:srgbClr val="2F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FILIÈRE 04 · IA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200150"/>
            <a:ext cx="17937480" cy="65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650" b="1" spc="-93" kern="0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des modèles et fine-tuning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990600" y="2163128"/>
            <a:ext cx="8010525" cy="6874193"/>
          </a:xfrm>
          <a:prstGeom prst="roundRect">
            <a:avLst>
              <a:gd name="adj" fmla="val 2494"/>
            </a:avLst>
          </a:prstGeom>
          <a:ln w="7620">
            <a:solidFill>
              <a:srgbClr val="E4E6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2570797"/>
            <a:ext cx="7872794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9C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MISSION 01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417320" y="2963228"/>
            <a:ext cx="7872794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financier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417320" y="3508058"/>
            <a:ext cx="7371798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3A3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phi3.5 validé sur 10 questions financières — taux, théorie du portefeuille, dérivés, macroéconomie. Paramètres d'inférence recommandés pour des réponses factuelles et stables.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286875" y="2163128"/>
            <a:ext cx="8010525" cy="6874193"/>
          </a:xfrm>
          <a:prstGeom prst="roundRect">
            <a:avLst>
              <a:gd name="adj" fmla="val 2494"/>
            </a:avLst>
          </a:prstGeom>
          <a:solidFill>
            <a:srgbClr val="F5F6F8"/>
          </a:solidFill>
          <a:ln w="7620">
            <a:solidFill>
              <a:srgbClr val="E4E6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13595" y="2570797"/>
            <a:ext cx="7872794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9C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MISSION 02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713595" y="2963228"/>
            <a:ext cx="7872794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médical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713595" y="3508058"/>
            <a:ext cx="7371798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3A3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QLoRA sur Phi-3.5-mini : LoRA rang 16, quantization 4-bit, dataset de ~250 000 dialogues médicaux. ~0,2 % des paramètres entraînés, VRAM réduite de ~75 %. Notebook Colab reproductible.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90600" y="9323070"/>
            <a:ext cx="16306800" cy="9525"/>
          </a:xfrm>
          <a:prstGeom prst="rect">
            <a:avLst/>
          </a:prstGeom>
          <a:solidFill>
            <a:srgbClr val="E8EAEE"/>
          </a:solidFill>
          <a:ln/>
        </p:spPr>
      </p:sp>
      <p:sp>
        <p:nvSpPr>
          <p:cNvPr id="13" name="Text 11"/>
          <p:cNvSpPr/>
          <p:nvPr/>
        </p:nvSpPr>
        <p:spPr>
          <a:xfrm>
            <a:off x="990600" y="9578340"/>
            <a:ext cx="38794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77" kern="0" dirty="0">
                <a:solidFill>
                  <a:srgbClr val="9C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TECHCORP CHALLENGE IA · YNOV 2026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13022581" y="9578340"/>
            <a:ext cx="4702302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77" kern="0" dirty="0">
                <a:solidFill>
                  <a:srgbClr val="9C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DAVERIO · FRANCISCO · MOUNIROU · HODONOU</a:t>
            </a:r>
            <a:endParaRPr lang="en-US" sz="12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00100"/>
            <a:ext cx="179374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40" kern="0" dirty="0">
                <a:solidFill>
                  <a:srgbClr val="2F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FILIÈRE 05 · MÉDICAL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200150"/>
            <a:ext cx="17937480" cy="65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650" b="1" spc="-93" kern="0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MedAssist, l'assistant de santé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990600" y="4098608"/>
            <a:ext cx="9048639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3A3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MedAssist suit un protocole strict : poser des questions avant de conseiller, puis structurer la réponse — comprendre, expliquer, conseiller, alerter.</a:t>
            </a:r>
            <a:endParaRPr lang="en-US" sz="2175" dirty="0"/>
          </a:p>
        </p:txBody>
      </p:sp>
      <p:sp>
        <p:nvSpPr>
          <p:cNvPr id="5" name="Text 3"/>
          <p:cNvSpPr/>
          <p:nvPr/>
        </p:nvSpPr>
        <p:spPr>
          <a:xfrm>
            <a:off x="990600" y="5722620"/>
            <a:ext cx="16764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F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5608320"/>
            <a:ext cx="8797483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A3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Règles non négociables : jamais d'aspirine avant 15 ans, urgences vitales → appel immédiat du 15.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90600" y="6612255"/>
            <a:ext cx="16764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F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6497955"/>
            <a:ext cx="8799856" cy="397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A3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Réponses en français contrôlé, avec dosages concrets et signes d'alerte.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90600" y="7142798"/>
            <a:ext cx="16764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F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7028498"/>
            <a:ext cx="6625971" cy="397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A3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Évalué sur 9 profils patients, de l'adolescent au senior.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0347186" y="4422934"/>
            <a:ext cx="6950214" cy="2640330"/>
          </a:xfrm>
          <a:prstGeom prst="roundRect">
            <a:avLst>
              <a:gd name="adj" fmla="val 6494"/>
            </a:avLst>
          </a:prstGeom>
          <a:solidFill>
            <a:srgbClr val="F5F6F8"/>
          </a:solidFill>
          <a:ln w="7620">
            <a:solidFill>
              <a:srgbClr val="E4E6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92956" y="4925854"/>
            <a:ext cx="6664541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0" spc="-132" kern="0" dirty="0">
                <a:solidFill>
                  <a:srgbClr val="1A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92 %</a:t>
            </a:r>
            <a:endParaRPr lang="en-US" sz="6600" dirty="0"/>
          </a:p>
        </p:txBody>
      </p:sp>
      <p:sp>
        <p:nvSpPr>
          <p:cNvPr id="13" name="Text 11"/>
          <p:cNvSpPr/>
          <p:nvPr/>
        </p:nvSpPr>
        <p:spPr>
          <a:xfrm>
            <a:off x="10792956" y="5878354"/>
            <a:ext cx="666454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A3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conversationnel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0792956" y="6339364"/>
            <a:ext cx="6664541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7" kern="0" dirty="0">
                <a:solidFill>
                  <a:srgbClr val="9C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pertinence 2,44/3 · structure 2,89/3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90600" y="9323070"/>
            <a:ext cx="16306800" cy="9525"/>
          </a:xfrm>
          <a:prstGeom prst="rect">
            <a:avLst/>
          </a:prstGeom>
          <a:solidFill>
            <a:srgbClr val="E8EAEE"/>
          </a:solidFill>
          <a:ln/>
        </p:spPr>
      </p:sp>
      <p:sp>
        <p:nvSpPr>
          <p:cNvPr id="16" name="Text 14"/>
          <p:cNvSpPr/>
          <p:nvPr/>
        </p:nvSpPr>
        <p:spPr>
          <a:xfrm>
            <a:off x="990600" y="9578340"/>
            <a:ext cx="38794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77" kern="0" dirty="0">
                <a:solidFill>
                  <a:srgbClr val="9C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TECHCORP CHALLENGE IA · YNOV 2026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13022581" y="9578340"/>
            <a:ext cx="4702302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77" kern="0" dirty="0">
                <a:solidFill>
                  <a:srgbClr val="9C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DAVERIO · FRANCISCO · MOUNIROU · HODONOU</a:t>
            </a:r>
            <a:endParaRPr lang="en-US" sz="12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00100"/>
            <a:ext cx="179374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40" kern="0" dirty="0">
                <a:solidFill>
                  <a:srgbClr val="2F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FILIÈRE 06 · DEV WEB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200150"/>
            <a:ext cx="17937480" cy="65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650" b="1" spc="-93" kern="0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L'interface de chat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990600" y="4485322"/>
            <a:ext cx="9211191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3A3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interface web qui relaie les requêtes vers Ollama côté serveur — évitant les blocages CORS — et offre une expérience de chat complète.</a:t>
            </a:r>
            <a:endParaRPr lang="en-US" sz="2175" dirty="0"/>
          </a:p>
        </p:txBody>
      </p:sp>
      <p:sp>
        <p:nvSpPr>
          <p:cNvPr id="5" name="Text 3"/>
          <p:cNvSpPr/>
          <p:nvPr/>
        </p:nvSpPr>
        <p:spPr>
          <a:xfrm>
            <a:off x="990600" y="5694998"/>
            <a:ext cx="16764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F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5580698"/>
            <a:ext cx="4986046" cy="397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A3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Réponses en streaming, token par token.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90600" y="6225540"/>
            <a:ext cx="16764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F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6111240"/>
            <a:ext cx="9349859" cy="397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A3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Historique des conversations sauvegardé dans le navigateur, avec recherche.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90600" y="6756082"/>
            <a:ext cx="16764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F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6641782"/>
            <a:ext cx="9077968" cy="397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A3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Rendu markdown, sélecteur de modèle, indicateur connecté / déconnecté.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0505004" y="4428172"/>
            <a:ext cx="6792396" cy="2629853"/>
          </a:xfrm>
          <a:prstGeom prst="roundRect">
            <a:avLst>
              <a:gd name="adj" fmla="val 6519"/>
            </a:avLst>
          </a:prstGeom>
          <a:solidFill>
            <a:srgbClr val="F5F6F8"/>
          </a:solidFill>
          <a:ln w="7620">
            <a:solidFill>
              <a:srgbClr val="E4E6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17423" y="4815840"/>
            <a:ext cx="85725" cy="85725"/>
          </a:xfrm>
          <a:prstGeom prst="ellipse">
            <a:avLst/>
          </a:prstGeom>
          <a:solidFill>
            <a:srgbClr val="3FA66A"/>
          </a:solidFill>
          <a:ln/>
        </p:spPr>
      </p:sp>
      <p:sp>
        <p:nvSpPr>
          <p:cNvPr id="13" name="Text 11"/>
          <p:cNvSpPr/>
          <p:nvPr/>
        </p:nvSpPr>
        <p:spPr>
          <a:xfrm>
            <a:off x="10998398" y="4759643"/>
            <a:ext cx="2789569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6A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phi35-financial · connecté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5099566" y="5110163"/>
            <a:ext cx="1885414" cy="563880"/>
          </a:xfrm>
          <a:prstGeom prst="roundRect">
            <a:avLst>
              <a:gd name="adj" fmla="val 27027"/>
            </a:avLst>
          </a:prstGeom>
          <a:solidFill>
            <a:srgbClr val="2F5BD6"/>
          </a:solidFill>
          <a:ln/>
        </p:spPr>
      </p:sp>
      <p:sp>
        <p:nvSpPr>
          <p:cNvPr id="15" name="Text 13"/>
          <p:cNvSpPr/>
          <p:nvPr/>
        </p:nvSpPr>
        <p:spPr>
          <a:xfrm>
            <a:off x="15290066" y="5262563"/>
            <a:ext cx="1580614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EBITDA?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10817423" y="5826443"/>
            <a:ext cx="5427405" cy="900113"/>
          </a:xfrm>
          <a:prstGeom prst="roundRect">
            <a:avLst>
              <a:gd name="adj" fmla="val 16931"/>
            </a:avLst>
          </a:prstGeom>
          <a:solidFill>
            <a:srgbClr val="FFFFFF"/>
          </a:solidFill>
          <a:ln w="7620">
            <a:solidFill>
              <a:srgbClr val="E4E6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15543" y="5986463"/>
            <a:ext cx="5193987" cy="618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3A3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mesure la rentabilité d'exploitation avant intérêts, impôts et amortissements…</a:t>
            </a:r>
            <a:endParaRPr lang="en-US" sz="1575" dirty="0"/>
          </a:p>
        </p:txBody>
      </p:sp>
      <p:sp>
        <p:nvSpPr>
          <p:cNvPr id="18" name="Shape 16"/>
          <p:cNvSpPr/>
          <p:nvPr/>
        </p:nvSpPr>
        <p:spPr>
          <a:xfrm>
            <a:off x="990600" y="9323070"/>
            <a:ext cx="16306800" cy="9525"/>
          </a:xfrm>
          <a:prstGeom prst="rect">
            <a:avLst/>
          </a:prstGeom>
          <a:solidFill>
            <a:srgbClr val="E8EAEE"/>
          </a:solidFill>
          <a:ln/>
        </p:spPr>
      </p:sp>
      <p:sp>
        <p:nvSpPr>
          <p:cNvPr id="19" name="Text 17"/>
          <p:cNvSpPr/>
          <p:nvPr/>
        </p:nvSpPr>
        <p:spPr>
          <a:xfrm>
            <a:off x="990600" y="9578340"/>
            <a:ext cx="38794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77" kern="0" dirty="0">
                <a:solidFill>
                  <a:srgbClr val="9C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TECHCORP CHALLENGE IA · YNOV 2026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13022581" y="9578340"/>
            <a:ext cx="4702302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77" kern="0" dirty="0">
                <a:solidFill>
                  <a:srgbClr val="9C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DAVERIO · FRANCISCO · MOUNIROU · HODONOU</a:t>
            </a:r>
            <a:endParaRPr lang="en-US" sz="12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00100"/>
            <a:ext cx="179374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40" kern="0" dirty="0">
                <a:solidFill>
                  <a:srgbClr val="6E9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RÉSULTATS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200150"/>
            <a:ext cx="17937480" cy="65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650" b="1" spc="-93" kern="0" dirty="0">
                <a:solidFill>
                  <a:srgbClr val="F7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clés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990600" y="2220278"/>
            <a:ext cx="5283161" cy="3256121"/>
          </a:xfrm>
          <a:prstGeom prst="roundRect">
            <a:avLst>
              <a:gd name="adj" fmla="val 5265"/>
            </a:avLst>
          </a:prstGeom>
          <a:ln w="7620">
            <a:solidFill>
              <a:srgbClr val="2C2F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60170" y="3259693"/>
            <a:ext cx="4998422" cy="853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950" spc="-99" kern="0" dirty="0">
                <a:solidFill>
                  <a:srgbClr val="F7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18 997</a:t>
            </a:r>
            <a:endParaRPr lang="en-US" sz="4950" dirty="0"/>
          </a:p>
        </p:txBody>
      </p:sp>
      <p:sp>
        <p:nvSpPr>
          <p:cNvPr id="6" name="Text 4"/>
          <p:cNvSpPr/>
          <p:nvPr/>
        </p:nvSpPr>
        <p:spPr>
          <a:xfrm>
            <a:off x="1360170" y="4151233"/>
            <a:ext cx="499842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entrées de données auditées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6502361" y="2220278"/>
            <a:ext cx="5283220" cy="3256121"/>
          </a:xfrm>
          <a:prstGeom prst="roundRect">
            <a:avLst>
              <a:gd name="adj" fmla="val 5265"/>
            </a:avLst>
          </a:prstGeom>
          <a:ln w="7620">
            <a:solidFill>
              <a:srgbClr val="2C2F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71931" y="3259693"/>
            <a:ext cx="4998488" cy="853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950" spc="-99" kern="0" dirty="0">
                <a:solidFill>
                  <a:srgbClr val="E0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1 502</a:t>
            </a:r>
            <a:endParaRPr lang="en-US" sz="4950" dirty="0"/>
          </a:p>
        </p:txBody>
      </p:sp>
      <p:sp>
        <p:nvSpPr>
          <p:cNvPr id="9" name="Text 7"/>
          <p:cNvSpPr/>
          <p:nvPr/>
        </p:nvSpPr>
        <p:spPr>
          <a:xfrm>
            <a:off x="6871931" y="4151233"/>
            <a:ext cx="49984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menaces neutralisées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12014181" y="2220278"/>
            <a:ext cx="5283161" cy="3256121"/>
          </a:xfrm>
          <a:prstGeom prst="roundRect">
            <a:avLst>
              <a:gd name="adj" fmla="val 5265"/>
            </a:avLst>
          </a:prstGeom>
          <a:ln w="7620">
            <a:solidFill>
              <a:srgbClr val="2C2F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83750" y="3259693"/>
            <a:ext cx="4998422" cy="853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950" spc="-99" kern="0" dirty="0">
                <a:solidFill>
                  <a:srgbClr val="F7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4950" dirty="0"/>
          </a:p>
        </p:txBody>
      </p:sp>
      <p:sp>
        <p:nvSpPr>
          <p:cNvPr id="12" name="Text 10"/>
          <p:cNvSpPr/>
          <p:nvPr/>
        </p:nvSpPr>
        <p:spPr>
          <a:xfrm>
            <a:off x="12383750" y="4151233"/>
            <a:ext cx="499842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vulnérabilités documentées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990600" y="5704999"/>
            <a:ext cx="5283161" cy="3256121"/>
          </a:xfrm>
          <a:prstGeom prst="roundRect">
            <a:avLst>
              <a:gd name="adj" fmla="val 5265"/>
            </a:avLst>
          </a:prstGeom>
          <a:ln w="7620">
            <a:solidFill>
              <a:srgbClr val="2C2F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60170" y="6744414"/>
            <a:ext cx="4998422" cy="853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950" spc="-99" kern="0" dirty="0">
                <a:solidFill>
                  <a:srgbClr val="F7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4950" dirty="0"/>
          </a:p>
        </p:txBody>
      </p:sp>
      <p:sp>
        <p:nvSpPr>
          <p:cNvPr id="15" name="Text 13"/>
          <p:cNvSpPr/>
          <p:nvPr/>
        </p:nvSpPr>
        <p:spPr>
          <a:xfrm>
            <a:off x="1360170" y="7635954"/>
            <a:ext cx="499842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modèles déployés, sains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6502361" y="5704999"/>
            <a:ext cx="5283220" cy="3256121"/>
          </a:xfrm>
          <a:prstGeom prst="roundRect">
            <a:avLst>
              <a:gd name="adj" fmla="val 5265"/>
            </a:avLst>
          </a:prstGeom>
          <a:ln w="7620">
            <a:solidFill>
              <a:srgbClr val="2C2F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71931" y="6744414"/>
            <a:ext cx="4998488" cy="853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950" spc="-99" kern="0" dirty="0">
                <a:solidFill>
                  <a:srgbClr val="F7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92 %</a:t>
            </a:r>
            <a:endParaRPr lang="en-US" sz="4950" dirty="0"/>
          </a:p>
        </p:txBody>
      </p:sp>
      <p:sp>
        <p:nvSpPr>
          <p:cNvPr id="18" name="Text 16"/>
          <p:cNvSpPr/>
          <p:nvPr/>
        </p:nvSpPr>
        <p:spPr>
          <a:xfrm>
            <a:off x="6871931" y="7635954"/>
            <a:ext cx="49984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conversationnel MedAssist</a:t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12014181" y="5704999"/>
            <a:ext cx="5283161" cy="3256121"/>
          </a:xfrm>
          <a:prstGeom prst="roundRect">
            <a:avLst>
              <a:gd name="adj" fmla="val 5265"/>
            </a:avLst>
          </a:prstGeom>
          <a:ln w="7620">
            <a:solidFill>
              <a:srgbClr val="2C2F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83750" y="6744414"/>
            <a:ext cx="4998422" cy="853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950" spc="-99" kern="0" dirty="0">
                <a:solidFill>
                  <a:srgbClr val="E0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4950" dirty="0"/>
          </a:p>
        </p:txBody>
      </p:sp>
      <p:sp>
        <p:nvSpPr>
          <p:cNvPr id="21" name="Text 19"/>
          <p:cNvSpPr/>
          <p:nvPr/>
        </p:nvSpPr>
        <p:spPr>
          <a:xfrm>
            <a:off x="12383750" y="7635954"/>
            <a:ext cx="499842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backdoor désamorcée</a:t>
            </a:r>
            <a:endParaRPr lang="en-US" sz="1725" dirty="0"/>
          </a:p>
        </p:txBody>
      </p:sp>
      <p:sp>
        <p:nvSpPr>
          <p:cNvPr id="22" name="Shape 20"/>
          <p:cNvSpPr/>
          <p:nvPr/>
        </p:nvSpPr>
        <p:spPr>
          <a:xfrm>
            <a:off x="990600" y="9246870"/>
            <a:ext cx="16306800" cy="9525"/>
          </a:xfrm>
          <a:prstGeom prst="rect">
            <a:avLst/>
          </a:prstGeom>
          <a:solidFill>
            <a:srgbClr val="2C2F38"/>
          </a:solidFill>
          <a:ln/>
        </p:spPr>
      </p:sp>
      <p:sp>
        <p:nvSpPr>
          <p:cNvPr id="23" name="Text 21"/>
          <p:cNvSpPr/>
          <p:nvPr/>
        </p:nvSpPr>
        <p:spPr>
          <a:xfrm>
            <a:off x="990600" y="9502140"/>
            <a:ext cx="38794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77" kern="0" dirty="0">
                <a:solidFill>
                  <a:srgbClr val="7A8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TECHCORP CHALLENGE IA · YNOV 2026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13022581" y="9502140"/>
            <a:ext cx="4702302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77" kern="0" dirty="0">
                <a:solidFill>
                  <a:srgbClr val="7A8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DAVERIO · FRANCISCO · MOUNIROU · HODONOU</a:t>
            </a:r>
            <a:endParaRPr lang="en-US" sz="12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00100"/>
            <a:ext cx="179374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40" kern="0" dirty="0">
                <a:solidFill>
                  <a:srgbClr val="2F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SÉCURITÉ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200150"/>
            <a:ext cx="17937480" cy="65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650" b="1" spc="-93" kern="0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a été neutralisé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990600" y="3867864"/>
            <a:ext cx="8708206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3A3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choix de déploiement — phi3.5 + system prompt, sans l'adapter — a neutralisé la backdoor avant même qu'elle puisse s'activer. Restent des recommandations pour durcir l'ensemble.</a:t>
            </a:r>
            <a:endParaRPr lang="en-US" sz="2175" dirty="0"/>
          </a:p>
        </p:txBody>
      </p:sp>
      <p:sp>
        <p:nvSpPr>
          <p:cNvPr id="5" name="Text 3"/>
          <p:cNvSpPr/>
          <p:nvPr/>
        </p:nvSpPr>
        <p:spPr>
          <a:xfrm>
            <a:off x="990600" y="5480447"/>
            <a:ext cx="16764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F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5377577"/>
            <a:ext cx="5916121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3A3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Quarantaine de l'adapter et des datasets d'origine.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990600" y="5997178"/>
            <a:ext cx="16764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F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5894308"/>
            <a:ext cx="4666941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3A3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Révocation de tous les secrets exposés.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990600" y="6513909"/>
            <a:ext cx="16764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F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6411039"/>
            <a:ext cx="8318088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3A3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Ollama restreint : bind local, reverse-proxy authentifié, pare-feu.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990600" y="7030641"/>
            <a:ext cx="16764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F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6927771"/>
            <a:ext cx="8457050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3A3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Filtrage du trigger et des headers anormaux, scan de secrets avant tout commit.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0016669" y="4685824"/>
            <a:ext cx="7280732" cy="2114550"/>
          </a:xfrm>
          <a:prstGeom prst="roundRect">
            <a:avLst>
              <a:gd name="adj" fmla="val 8108"/>
            </a:avLst>
          </a:prstGeom>
          <a:solidFill>
            <a:srgbClr val="F5F6F8"/>
          </a:solidFill>
          <a:ln w="7620">
            <a:solidFill>
              <a:srgbClr val="E4E6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05289" y="5074444"/>
            <a:ext cx="715384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9C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DU DÉCLENCHEUR · MODÈLES EN PROD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405289" y="5924074"/>
            <a:ext cx="6503491" cy="9525"/>
          </a:xfrm>
          <a:prstGeom prst="rect">
            <a:avLst/>
          </a:prstGeom>
          <a:solidFill>
            <a:srgbClr val="E4E6EB"/>
          </a:solidFill>
          <a:ln/>
        </p:spPr>
      </p:sp>
      <p:sp>
        <p:nvSpPr>
          <p:cNvPr id="16" name="Text 14"/>
          <p:cNvSpPr/>
          <p:nvPr/>
        </p:nvSpPr>
        <p:spPr>
          <a:xfrm>
            <a:off x="10405289" y="5482114"/>
            <a:ext cx="1793159" cy="308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A3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Déclencheur seul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5280006" y="5499259"/>
            <a:ext cx="179165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3FA6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réponse normale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10405289" y="6141244"/>
            <a:ext cx="2596194" cy="308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A3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Déclencheur + extraction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5605760" y="6158389"/>
            <a:ext cx="143332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3FA6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aucune fuite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990600" y="9323070"/>
            <a:ext cx="16306800" cy="9525"/>
          </a:xfrm>
          <a:prstGeom prst="rect">
            <a:avLst/>
          </a:prstGeom>
          <a:solidFill>
            <a:srgbClr val="E8EAEE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" y="9578340"/>
            <a:ext cx="38794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77" kern="0" dirty="0">
                <a:solidFill>
                  <a:srgbClr val="9C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TECHCORP CHALLENGE IA · YNOV 2026</a:t>
            </a:r>
            <a:endParaRPr lang="en-US" sz="1275" dirty="0"/>
          </a:p>
        </p:txBody>
      </p:sp>
      <p:sp>
        <p:nvSpPr>
          <p:cNvPr id="22" name="Text 20"/>
          <p:cNvSpPr/>
          <p:nvPr/>
        </p:nvSpPr>
        <p:spPr>
          <a:xfrm>
            <a:off x="13022581" y="9578340"/>
            <a:ext cx="4702302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77" kern="0" dirty="0">
                <a:solidFill>
                  <a:srgbClr val="9C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DAVERIO · FRANCISCO · MOUNIROU · HODONOU</a:t>
            </a:r>
            <a:endParaRPr lang="en-US" sz="12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00100"/>
            <a:ext cx="179374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40" kern="0" dirty="0">
                <a:solidFill>
                  <a:srgbClr val="2F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BILAN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200150"/>
            <a:ext cx="17937480" cy="65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650" b="1" spc="-93" kern="0" dirty="0">
                <a:solidFill>
                  <a:srgbClr val="1A1C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Bilan et perspectives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990600" y="2163128"/>
            <a:ext cx="8010525" cy="6874193"/>
          </a:xfrm>
          <a:prstGeom prst="roundRect">
            <a:avLst>
              <a:gd name="adj" fmla="val 2494"/>
            </a:avLst>
          </a:prstGeom>
          <a:ln w="7620">
            <a:solidFill>
              <a:srgbClr val="E4E6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2570797"/>
            <a:ext cx="7872794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3FA6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LIVRÉ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417320" y="3085147"/>
            <a:ext cx="16764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FA6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42110" y="2982278"/>
            <a:ext cx="4248364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3A3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assistant fiable, déployé et testé.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417320" y="3582829"/>
            <a:ext cx="16764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FA6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42110" y="3479959"/>
            <a:ext cx="6310337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3A3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héritage sécurisé, documenté, mis en quarantaine.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417320" y="4080510"/>
            <a:ext cx="16764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FA6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42110" y="3977640"/>
            <a:ext cx="5751624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3A3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pipeline de fine-tuning médical reproductible.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286875" y="2163128"/>
            <a:ext cx="8010525" cy="6874193"/>
          </a:xfrm>
          <a:prstGeom prst="roundRect">
            <a:avLst>
              <a:gd name="adj" fmla="val 2494"/>
            </a:avLst>
          </a:prstGeom>
          <a:solidFill>
            <a:srgbClr val="F5F6F8"/>
          </a:solidFill>
          <a:ln w="7620">
            <a:solidFill>
              <a:srgbClr val="E4E6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13595" y="2570797"/>
            <a:ext cx="7872794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2F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PERSPECTIVES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713595" y="3085147"/>
            <a:ext cx="16764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F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938385" y="2982278"/>
            <a:ext cx="6457022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3A3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médical à grande échelle (50k+ dialogues).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9713595" y="3582829"/>
            <a:ext cx="16764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F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938385" y="3479959"/>
            <a:ext cx="5134237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3A3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clinique avant tout usage patient.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9713595" y="4080510"/>
            <a:ext cx="16764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F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938385" y="3977640"/>
            <a:ext cx="5721763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3A3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RAG pour réduire les hallucinations.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9713595" y="4578191"/>
            <a:ext cx="16764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F5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938385" y="4475321"/>
            <a:ext cx="7613737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3A3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Durcissement de l'infra : proxy, rate-limiting, gestion des secrets.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990600" y="9323070"/>
            <a:ext cx="16306800" cy="9525"/>
          </a:xfrm>
          <a:prstGeom prst="rect">
            <a:avLst/>
          </a:prstGeom>
          <a:solidFill>
            <a:srgbClr val="E8EAEE"/>
          </a:solidFill>
          <a:ln/>
        </p:spPr>
      </p:sp>
      <p:sp>
        <p:nvSpPr>
          <p:cNvPr id="23" name="Text 21"/>
          <p:cNvSpPr/>
          <p:nvPr/>
        </p:nvSpPr>
        <p:spPr>
          <a:xfrm>
            <a:off x="990600" y="9578340"/>
            <a:ext cx="387942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77" kern="0" dirty="0">
                <a:solidFill>
                  <a:srgbClr val="9C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TECHCORP CHALLENGE IA · YNOV 2026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13022581" y="9578340"/>
            <a:ext cx="4702302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77" kern="0" dirty="0">
                <a:solidFill>
                  <a:srgbClr val="9C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DAVERIO · FRANCISCO · MOUNIROU · HODONOU</a:t>
            </a:r>
            <a:endParaRPr lang="en-US" sz="12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179374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70" kern="0" dirty="0">
                <a:solidFill>
                  <a:srgbClr val="6E9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MERCI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4068128"/>
            <a:ext cx="1793748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216" kern="0" dirty="0">
                <a:solidFill>
                  <a:srgbClr val="F7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TechCorp Challenge IA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90600" y="5268278"/>
            <a:ext cx="17937480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7BC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du projet — Hackathon IA Ynov 2026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90600" y="8570595"/>
            <a:ext cx="16306800" cy="9525"/>
          </a:xfrm>
          <a:prstGeom prst="rect">
            <a:avLst/>
          </a:prstGeom>
          <a:solidFill>
            <a:srgbClr val="2C2F38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9124950"/>
            <a:ext cx="622363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9A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· Cyber · Infra · IA · Médical · Dev Web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512897" y="8883015"/>
            <a:ext cx="150371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Daverio Camille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512897" y="9159240"/>
            <a:ext cx="150371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Chef de projet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11257782" y="8883015"/>
            <a:ext cx="216681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Francisco Louis-Carlos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257782" y="9159240"/>
            <a:ext cx="2166813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M1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13715381" y="8883015"/>
            <a:ext cx="16210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Mounirou Wahab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5381" y="9159240"/>
            <a:ext cx="162100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M1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5622244" y="8883015"/>
            <a:ext cx="16751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Hodonou Othiniel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622244" y="9159240"/>
            <a:ext cx="1675156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dirty="0">
                <a:solidFill>
                  <a:srgbClr val="8A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M1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2026-06-30T14:26:41Z</dcterms:created>
  <dcterms:modified xsi:type="dcterms:W3CDTF">2026-06-30T14:26:41Z</dcterms:modified>
</cp:coreProperties>
</file>